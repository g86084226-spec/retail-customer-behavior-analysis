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Quattrocento" panose="02020502030000000404" pitchFamily="18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05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213967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Customer Shopping Behavior Analysis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686473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Analysis of 3,900 purchases to surface spending patterns, customer segments, product preferences, and subscription behavior for strategic decisions.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622623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Dataset Snapshot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5269971" y="2508448"/>
            <a:ext cx="1941563" cy="2726928"/>
          </a:xfrm>
          <a:prstGeom prst="roundRect">
            <a:avLst>
              <a:gd name="adj" fmla="val 1541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5469396" y="2707878"/>
            <a:ext cx="1542714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Rows &amp; Columns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69396" y="3414117"/>
            <a:ext cx="154271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3,900 rows · 18 columns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410959" y="2508448"/>
            <a:ext cx="1941563" cy="2726928"/>
          </a:xfrm>
          <a:prstGeom prst="roundRect">
            <a:avLst>
              <a:gd name="adj" fmla="val 1541"/>
            </a:avLst>
          </a:prstGeom>
          <a:solidFill>
            <a:srgbClr val="315251"/>
          </a:solidFill>
          <a:ln/>
        </p:spPr>
      </p:sp>
      <p:sp>
        <p:nvSpPr>
          <p:cNvPr id="8" name="Text 5"/>
          <p:cNvSpPr/>
          <p:nvPr/>
        </p:nvSpPr>
        <p:spPr>
          <a:xfrm>
            <a:off x="7610384" y="2707878"/>
            <a:ext cx="154271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10384" y="3120827"/>
            <a:ext cx="1542714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Demographics, purchase details, behavior signals (discounts, frequency, ratings)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9551947" y="2508448"/>
            <a:ext cx="1941563" cy="2726928"/>
          </a:xfrm>
          <a:prstGeom prst="roundRect">
            <a:avLst>
              <a:gd name="adj" fmla="val 1541"/>
            </a:avLst>
          </a:prstGeom>
          <a:solidFill>
            <a:srgbClr val="315251"/>
          </a:solidFill>
          <a:ln/>
        </p:spPr>
      </p:sp>
      <p:sp>
        <p:nvSpPr>
          <p:cNvPr id="11" name="Text 8"/>
          <p:cNvSpPr/>
          <p:nvPr/>
        </p:nvSpPr>
        <p:spPr>
          <a:xfrm>
            <a:off x="9751372" y="2707878"/>
            <a:ext cx="154271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Missing Data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751372" y="3120827"/>
            <a:ext cx="154271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37 missing values in Review Rating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300460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Preparation (Python)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2365772"/>
            <a:ext cx="2868541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Loaded with pandas, inspected via df.info() and .describe(). Handled nulls and standardized column names to snake_case.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98086" y="3822005"/>
            <a:ext cx="2868541" cy="1665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Imputed Review Rating by category median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Dropped redundant promo_code_used (kept discount_applied)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059533" y="2385715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059533" y="2878435"/>
            <a:ext cx="2868541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Added age_group bins and purchase_frequency_days. Connected cleaned DataFrame to PostgreSQL for SQL analysis.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702965"/>
            <a:ext cx="6223638" cy="540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Revenue &amp; Demographics (SQL)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1498104"/>
            <a:ext cx="459669" cy="4596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8086" y="2169616"/>
            <a:ext cx="622363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Revenue by Gender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98086" y="2541786"/>
            <a:ext cx="6223638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Male: 157,890 · Female: 75,191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3163391"/>
            <a:ext cx="459669" cy="4596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8086" y="3834904"/>
            <a:ext cx="622363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Subscribers vs Non-Subscribers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698086" y="4207073"/>
            <a:ext cx="6223638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Subscribers (1,053) avg spend $59.49 · Non-subscribers (2,847) avg $59.87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4828679"/>
            <a:ext cx="459669" cy="4596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8086" y="5500191"/>
            <a:ext cx="6223638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Revenue by Age Group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698086" y="5872361"/>
            <a:ext cx="6223638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Young Adult: 62,143 · Middle-aged: 59,197 · Adult: 55,978 · Senior: 55,763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2182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Top Products &amp; Ratings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129532"/>
            <a:ext cx="346215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Top Rated Items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8086" y="2622252"/>
            <a:ext cx="3462152" cy="1874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Gloves — 3.86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Sandals — 3.84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Boots — 3.82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Hat — 3.80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Skirt — 3.78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8086" y="4676676"/>
            <a:ext cx="346215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37 missing ratings were imputed by category median before computing averages.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144" y="1931988"/>
            <a:ext cx="6846716" cy="3879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195586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Sales, Discounts &amp; Shipping Insights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98086" y="2668091"/>
            <a:ext cx="6223638" cy="2994323"/>
          </a:xfrm>
          <a:prstGeom prst="roundRect">
            <a:avLst>
              <a:gd name="adj" fmla="val 999"/>
            </a:avLst>
          </a:prstGeom>
          <a:solidFill>
            <a:srgbClr val="315251"/>
          </a:solidFill>
          <a:ln/>
        </p:spPr>
      </p:sp>
      <p:sp>
        <p:nvSpPr>
          <p:cNvPr id="5" name="Shape 2"/>
          <p:cNvSpPr/>
          <p:nvPr/>
        </p:nvSpPr>
        <p:spPr>
          <a:xfrm>
            <a:off x="698086" y="2668091"/>
            <a:ext cx="2074513" cy="2994323"/>
          </a:xfrm>
          <a:custGeom>
            <a:avLst/>
            <a:gdLst/>
            <a:ahLst/>
            <a:cxnLst/>
            <a:rect l="l" t="t" r="r" b="b"/>
            <a:pathLst>
              <a:path w="2074513" h="2994323">
                <a:moveTo>
                  <a:pt x="24935" y="0"/>
                </a:moveTo>
                <a:lnTo>
                  <a:pt x="2074513" y="0"/>
                </a:lnTo>
                <a:lnTo>
                  <a:pt x="2074513" y="2994323"/>
                </a:lnTo>
                <a:lnTo>
                  <a:pt x="24935" y="2994323"/>
                </a:lnTo>
                <a:arcTo wR="24935" hR="24935" stAng="5400000" swAng="5400000"/>
                <a:lnTo>
                  <a:pt x="0" y="24935"/>
                </a:lnTo>
                <a:arcTo wR="24935" hR="24935" stAng="10800000" swAng="5400000"/>
                <a:close/>
              </a:path>
            </a:pathLst>
          </a:custGeom>
          <a:solidFill>
            <a:srgbClr val="315251"/>
          </a:solidFill>
          <a:ln/>
        </p:spPr>
      </p:sp>
      <p:sp>
        <p:nvSpPr>
          <p:cNvPr id="6" name="Text 3"/>
          <p:cNvSpPr/>
          <p:nvPr/>
        </p:nvSpPr>
        <p:spPr>
          <a:xfrm>
            <a:off x="897510" y="2867521"/>
            <a:ext cx="1675664" cy="879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Discount-Dependent Products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7510" y="3867051"/>
            <a:ext cx="1675664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Hat 50.00% · Sneakers 49.66% · Coat 49.07% · Sweater 48.17% · Pants 47.37%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2772599" y="2668091"/>
            <a:ext cx="2074513" cy="2994323"/>
          </a:xfrm>
          <a:prstGeom prst="rect">
            <a:avLst/>
          </a:prstGeom>
          <a:solidFill>
            <a:srgbClr val="315251"/>
          </a:solidFill>
          <a:ln/>
        </p:spPr>
      </p:sp>
      <p:sp>
        <p:nvSpPr>
          <p:cNvPr id="9" name="Shape 6"/>
          <p:cNvSpPr/>
          <p:nvPr/>
        </p:nvSpPr>
        <p:spPr>
          <a:xfrm>
            <a:off x="2772599" y="2668091"/>
            <a:ext cx="25399" cy="2994323"/>
          </a:xfrm>
          <a:prstGeom prst="roundRect">
            <a:avLst>
              <a:gd name="adj" fmla="val 50001"/>
            </a:avLst>
          </a:prstGeom>
          <a:solidFill>
            <a:srgbClr val="4A6B6A"/>
          </a:solidFill>
          <a:ln/>
        </p:spPr>
      </p:sp>
      <p:sp>
        <p:nvSpPr>
          <p:cNvPr id="10" name="Text 7"/>
          <p:cNvSpPr/>
          <p:nvPr/>
        </p:nvSpPr>
        <p:spPr>
          <a:xfrm>
            <a:off x="2972023" y="2867521"/>
            <a:ext cx="1675664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High-Spending Discount Users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972023" y="3573760"/>
            <a:ext cx="1675664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839 rows identified where discounts were used but purchase &gt; average amount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4847112" y="2668091"/>
            <a:ext cx="2074612" cy="2994323"/>
          </a:xfrm>
          <a:custGeom>
            <a:avLst/>
            <a:gdLst/>
            <a:ahLst/>
            <a:cxnLst/>
            <a:rect l="l" t="t" r="r" b="b"/>
            <a:pathLst>
              <a:path w="2074612" h="2994323">
                <a:moveTo>
                  <a:pt x="0" y="0"/>
                </a:moveTo>
                <a:lnTo>
                  <a:pt x="2049677" y="0"/>
                </a:lnTo>
                <a:arcTo wR="24935" hR="24935" stAng="16200000" swAng="5400000"/>
                <a:lnTo>
                  <a:pt x="2074612" y="2969387"/>
                </a:lnTo>
                <a:arcTo wR="24935" hR="24935" stAng="0" swAng="5400000"/>
                <a:lnTo>
                  <a:pt x="0" y="2994323"/>
                </a:lnTo>
                <a:lnTo>
                  <a:pt x="0" y="0"/>
                </a:lnTo>
                <a:close/>
              </a:path>
            </a:pathLst>
          </a:custGeom>
          <a:solidFill>
            <a:srgbClr val="315251"/>
          </a:solidFill>
          <a:ln/>
        </p:spPr>
      </p:sp>
      <p:sp>
        <p:nvSpPr>
          <p:cNvPr id="13" name="Shape 10"/>
          <p:cNvSpPr/>
          <p:nvPr/>
        </p:nvSpPr>
        <p:spPr>
          <a:xfrm>
            <a:off x="4847112" y="2668091"/>
            <a:ext cx="25399" cy="2994323"/>
          </a:xfrm>
          <a:prstGeom prst="roundRect">
            <a:avLst>
              <a:gd name="adj" fmla="val 50001"/>
            </a:avLst>
          </a:prstGeom>
          <a:solidFill>
            <a:srgbClr val="4A6B6A"/>
          </a:solidFill>
          <a:ln/>
        </p:spPr>
      </p:sp>
      <p:sp>
        <p:nvSpPr>
          <p:cNvPr id="14" name="Text 11"/>
          <p:cNvSpPr/>
          <p:nvPr/>
        </p:nvSpPr>
        <p:spPr>
          <a:xfrm>
            <a:off x="5046536" y="2867521"/>
            <a:ext cx="1675763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Shipping Comparison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046536" y="3573760"/>
            <a:ext cx="1675763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Avg purchase: Standard $58.46 · Express $60.48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6121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Customer Segments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98086" y="1327646"/>
            <a:ext cx="4135929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Segments derived from purchase history: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698526"/>
            <a:ext cx="3526345" cy="14025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65911" y="1817688"/>
            <a:ext cx="190694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76080" y="2334320"/>
            <a:ext cx="3170357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Loyal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76080" y="2694682"/>
            <a:ext cx="3170357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3,116 customers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3227685"/>
            <a:ext cx="3526345" cy="14025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365911" y="3346847"/>
            <a:ext cx="190694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76080" y="3863479"/>
            <a:ext cx="3170357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Returning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76080" y="4223841"/>
            <a:ext cx="3170357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701 customers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756845"/>
            <a:ext cx="3526345" cy="14025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365911" y="4876006"/>
            <a:ext cx="190694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76080" y="5392638"/>
            <a:ext cx="3170357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New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76080" y="5753001"/>
            <a:ext cx="3170357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83 customers</a:t>
            </a:r>
            <a:endParaRPr lang="en-US" sz="12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517" y="1807964"/>
            <a:ext cx="6881343" cy="38994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2182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Power BI Dashboard Highlights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615208"/>
            <a:ext cx="346215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Interactive dashboard built in Power BI to visualize key metrics and support exploration.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8086" y="3752255"/>
            <a:ext cx="3462152" cy="148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Number of Customers: 3.9K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Average Purchase Amount: $59.76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Average Review Rating: 3.75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Subscription: 27% Yes · 73% No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144" y="1931988"/>
            <a:ext cx="6846716" cy="3879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3480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Sales &amp; Revenue Visuals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744960"/>
            <a:ext cx="5154484" cy="371028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476" y="1744960"/>
            <a:ext cx="5154484" cy="37102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8086" y="5903913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Revenue and sales by category — use these visuals to prioritize assortment and promotions.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8133"/>
            <a:ext cx="10795524" cy="403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Business Recommendations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98086" y="1209973"/>
            <a:ext cx="548567" cy="822821"/>
          </a:xfrm>
          <a:prstGeom prst="roundRect">
            <a:avLst>
              <a:gd name="adj" fmla="val 50000"/>
            </a:avLst>
          </a:prstGeom>
          <a:solidFill>
            <a:srgbClr val="31525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9531" y="1518543"/>
            <a:ext cx="205675" cy="205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40908" y="1347093"/>
            <a:ext cx="10152701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Boost Subscriptions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340908" y="1605260"/>
            <a:ext cx="10152701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Promote exclusive benefits to increase subscriber base and recurring revenue.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98086" y="2127052"/>
            <a:ext cx="548567" cy="822821"/>
          </a:xfrm>
          <a:prstGeom prst="roundRect">
            <a:avLst>
              <a:gd name="adj" fmla="val 50000"/>
            </a:avLst>
          </a:prstGeom>
          <a:solidFill>
            <a:srgbClr val="31525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9531" y="2435622"/>
            <a:ext cx="205675" cy="205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40908" y="2264172"/>
            <a:ext cx="10152701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Loyalty Programs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340908" y="2522339"/>
            <a:ext cx="10152701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Reward repeat buyers to move them into the Loyal segment.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98086" y="3044130"/>
            <a:ext cx="548567" cy="822821"/>
          </a:xfrm>
          <a:prstGeom prst="roundRect">
            <a:avLst>
              <a:gd name="adj" fmla="val 50000"/>
            </a:avLst>
          </a:prstGeom>
          <a:solidFill>
            <a:srgbClr val="31525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9531" y="3352701"/>
            <a:ext cx="205675" cy="2056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40908" y="3181251"/>
            <a:ext cx="10152701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Review Discount Policy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340908" y="3439418"/>
            <a:ext cx="10152701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Balance short-term sales lifts with margin protection for discount-dependent products.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98086" y="3961209"/>
            <a:ext cx="548567" cy="822821"/>
          </a:xfrm>
          <a:prstGeom prst="roundRect">
            <a:avLst>
              <a:gd name="adj" fmla="val 50000"/>
            </a:avLst>
          </a:prstGeom>
          <a:solidFill>
            <a:srgbClr val="315251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9531" y="4269780"/>
            <a:ext cx="205675" cy="2056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40908" y="4098330"/>
            <a:ext cx="10152701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Targeted Marketing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340908" y="4356497"/>
            <a:ext cx="10152701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Focus campaigns on high-revenue age groups and express-shipping users.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98086" y="4878288"/>
            <a:ext cx="548567" cy="822821"/>
          </a:xfrm>
          <a:prstGeom prst="roundRect">
            <a:avLst>
              <a:gd name="adj" fmla="val 50000"/>
            </a:avLst>
          </a:prstGeom>
          <a:solidFill>
            <a:srgbClr val="315251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9531" y="5186859"/>
            <a:ext cx="205675" cy="2056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40908" y="5015409"/>
            <a:ext cx="10152701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Product Positioning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340908" y="5273576"/>
            <a:ext cx="10152701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Feature top-rated and best-selling products in promotions and homepage merchandising.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98086" y="5807174"/>
            <a:ext cx="10795524" cy="432594"/>
          </a:xfrm>
          <a:prstGeom prst="roundRect">
            <a:avLst>
              <a:gd name="adj" fmla="val 4755"/>
            </a:avLst>
          </a:prstGeom>
          <a:solidFill>
            <a:srgbClr val="71260E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203" y="5942608"/>
            <a:ext cx="171346" cy="1371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43666" y="5935663"/>
            <a:ext cx="10822411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Next steps: A/B test subscription offers and loyalty incentives; monitor impact on CLV and margin.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</Words>
  <Application>Microsoft Office PowerPoint</Application>
  <PresentationFormat>Widescreen</PresentationFormat>
  <Paragraphs>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Quattrocento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Shwetha G</dc:creator>
  <cp:lastModifiedBy>Shwetha G</cp:lastModifiedBy>
  <cp:revision>1</cp:revision>
  <dcterms:created xsi:type="dcterms:W3CDTF">2026-09-03T05:23:04Z</dcterms:created>
  <dcterms:modified xsi:type="dcterms:W3CDTF">2026-09-03T05:23:42Z</dcterms:modified>
</cp:coreProperties>
</file>